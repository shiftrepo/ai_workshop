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複雑な事務処理ロジック自動化  |  Hermes Agent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PROCESS AUTOMATION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複雑な事務処理ロジックの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自動化能力デモ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料金算出マトリックスエンジン — 1.77億通りの条件を58ルールで処理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申請種別・申請者区分・地域・優先度・複雑度・規模・季節など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10以上のパラメータを組み合わせた段階的料金算出を実装・実証します。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1D6A4A"/>
          </a:solidFill>
          <a:ln w="12700">
            <a:solidFill>
              <a:srgbClr val="1D6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03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Python実装済み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370332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3703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1.77億通りの条件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370332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3703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58ルールで完全対応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0" y="1005840"/>
            <a:ext cx="13716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11556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申請種別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73568" y="1600200"/>
            <a:ext cx="5029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170992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地域区分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73568" y="2194560"/>
            <a:ext cx="5029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230428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事業規模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73568" y="2788920"/>
            <a:ext cx="5029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28986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優先度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973568" y="3383280"/>
            <a:ext cx="5029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349300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季節係数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73568" y="3977640"/>
            <a:ext cx="5029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408736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割引制度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|  なぜ「複雑」なのか — 事務処理ロジックの本質的な難しさ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743200" cy="3730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78992"/>
            <a:ext cx="27432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43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多種類の申請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581912"/>
            <a:ext cx="2542032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45920"/>
            <a:ext cx="257860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建設工事許可（国交省系）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営業許可（飲食/風俗/古物）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補助金・助成金申請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輸出入許可（税関系）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宅地建物取引業免許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産業廃棄物処理業許可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63824" y="1078992"/>
            <a:ext cx="2743200" cy="37307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1078992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143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掛け算の組み合わせ爆発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73552" y="1581912"/>
            <a:ext cx="2542032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645920"/>
            <a:ext cx="257860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申請者区分 × 地域区分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優先度 × 複雑度 × 規模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季節・繁忙期の時間変数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5種のフラグ（ON/OFF）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書類枚数段階・補正回数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リピーター×パッケージ割引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078992"/>
            <a:ext cx="2743200" cy="3730752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1078992"/>
            <a:ext cx="27432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143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  属人化・現場の課題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81344" y="1581912"/>
            <a:ext cx="2542032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645920"/>
            <a:ext cx="257860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ルールが文書散在・担当者依存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ヒューマンエラーが頻発する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条件変更のたびに全体影響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説明責任・監査証跡の欠如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Excelでは管理限界にすぐ達する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スケール・自動化が困難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|  組み合わせ爆発の実態 — 1.77億通りのパターンが存在する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申請種別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94560" y="1143000"/>
            <a:ext cx="411480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143000"/>
            <a:ext cx="1097280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1155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86600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A〜F の6種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" y="15179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申請者区分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94560" y="1545336"/>
            <a:ext cx="411480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545336"/>
            <a:ext cx="548640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51790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86600" y="15179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個人・法人・行政機関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1920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地域区分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94560" y="1947672"/>
            <a:ext cx="411480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1947672"/>
            <a:ext cx="73152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19202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86600" y="1920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特別区〜過疎地域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23225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処理優先度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94560" y="2350008"/>
            <a:ext cx="411480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2350008"/>
            <a:ext cx="54864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232257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86600" y="23225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標準・急ぎ・最急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8600" y="27249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申請複雑度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94560" y="2752344"/>
            <a:ext cx="411480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4560" y="2752344"/>
            <a:ext cx="73152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27249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86600" y="27249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簡易〜超複雑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8600" y="3127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事業規模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194560" y="3154680"/>
            <a:ext cx="411480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3154680"/>
            <a:ext cx="73152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31272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86600" y="3127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零細〜大企業（法人のみ）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28600" y="35295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季節・繁忙期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194560" y="3557016"/>
            <a:ext cx="411480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4560" y="3557016"/>
            <a:ext cx="914400" cy="2377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35295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35295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繁忙期×1.20〜閑散期×0.95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28600" y="3931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バイナリフラグ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194560" y="3959352"/>
            <a:ext cx="411480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94560" y="3959352"/>
            <a:ext cx="2286000" cy="23774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39319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86600" y="3931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5フラグのON/OFF = 2⁵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28600" y="43342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段階変数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194560" y="4361688"/>
            <a:ext cx="411480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94560" y="4361688"/>
            <a:ext cx="4114800" cy="23774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2512" y="433425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×320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086600" y="43342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書類/補正/リピーター/パッケージ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28600" y="4645152"/>
            <a:ext cx="8686800" cy="201168"/>
          </a:xfrm>
          <a:prstGeom prst="rect">
            <a:avLst/>
          </a:prstGeom>
          <a:solidFill>
            <a:srgbClr val="3B076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6451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全変数の積 = 6 × 3 × 4 × 3 × 4 × 4 × 5 × 32 × 320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69280" y="46451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1億7,700万 通り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|  解決策①：テーブル駆動設計 — if-else地獄からの脱却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4160520" cy="292608"/>
          </a:xfrm>
          <a:prstGeom prst="rect">
            <a:avLst/>
          </a:prstGeom>
          <a:solidFill>
            <a:srgbClr val="7C2D1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BAD: if-else を全パターン書いた場合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335024"/>
            <a:ext cx="4160520" cy="3456432"/>
          </a:xfrm>
          <a:prstGeom prst="rect">
            <a:avLst/>
          </a:prstGeom>
          <a:solidFill>
            <a:srgbClr val="0A0F1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408176"/>
            <a:ext cx="397764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建設工事 × 個人 × 通常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type=="A" and person=="individual"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priority=="standard":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 = 80000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建設工事 × 個人 × 急ぎ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type=="A" and person=="individual"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and priority=="express":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 = 120000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建設工事 × 個人 × 最急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type=="A" and person=="individual"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and priority=="urgent":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 = 176000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↓ これを 1.77億パターン分…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（現実的に書けない・保守不可能）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建設工事 × 法人(大) × 特別区 × 急ぎ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× 複雑 × 繁忙期 × 翻訳ON ×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...: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 = ...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024128"/>
            <a:ext cx="4251960" cy="292608"/>
          </a:xfrm>
          <a:prstGeom prst="rect">
            <a:avLst/>
          </a:prstGeom>
          <a:solidFill>
            <a:srgbClr val="1D6A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241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GOOD: テーブル駆動設計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35024"/>
            <a:ext cx="4251960" cy="3456432"/>
          </a:xfrm>
          <a:prstGeom prst="rect">
            <a:avLst/>
          </a:prstGeom>
          <a:solidFill>
            <a:srgbClr val="0A0F1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408176"/>
            <a:ext cx="406908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基本料金テーブル（辞書で定義）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BASE_FEE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("A","individual"):  80_000,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("A","corporation"): 150_000,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("A","government"):   60_000,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("B","individual"):  50_000,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… 18エントリのみ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係数テーブル（各軸ひとつ）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PRIORITY_MULT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"standard": 1.00,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"express":  1.50,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"urgent":   2.20,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適用はテーブル引きだけ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BASE_FEE[(app_type, person)]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  = base * PRIORITY_MULT[priority]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全パターンに対応完了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280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if-else: 理論上1.77億行が必要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4846320"/>
            <a:ext cx="0" cy="20116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48280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テーブル駆動: 58ルール（600行）で全パターン対応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|  テーブル駆動の別例 — 所得税の累進課税計算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同じ設計パターンは「課税所得 × 控除種別 × 申告区分」など他の複雑計算にも即応用できます。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41605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所得税テーブル（国税庁ベース簡略版）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709928"/>
          <a:ext cx="41605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23444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課税所得（万円）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税率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控除額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〜 195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〜 330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97,500円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〜 695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427,500円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〜 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636,000円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〜1,800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1,536,000円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〜4,000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2,796,000円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4,796,000円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617720" y="1417320"/>
            <a:ext cx="4297680" cy="274320"/>
          </a:xfrm>
          <a:prstGeom prst="rect">
            <a:avLst/>
          </a:prstGeom>
          <a:solidFill>
            <a:srgbClr val="1D6A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テーブル駆動で実装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709928"/>
            <a:ext cx="4297680" cy="3154680"/>
          </a:xfrm>
          <a:prstGeom prst="rect">
            <a:avLst/>
          </a:prstGeom>
          <a:solidFill>
            <a:srgbClr val="0A0F1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178308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TAX_TABLE =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(上限万円, 税率, 控除額)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(195,  0.05,        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(330,  0.10,   97_500),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(695,  0.20,  427_500),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(900,  0.23,  636_000),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(1800, 0.33, 1_536_000),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(4000, 0.40, 2_796_000),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(9e9,  0.45, 4_796_000),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calc_income_tax(income_man: int) -&gt; int: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limit, rate, deduct in TAX_TABLE: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income_man &lt;= limit: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int(income_man*10000*rate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- deduct)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例: 課税所得500万円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500 &lt;= 695 → 税率20%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5,000,000 × 0.20 − 427,500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 ¥572,500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8188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テーブルを変えるだけで税制改正・新控除種別・法人税など全て対応 — コード本体は一切変更不要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|  解決策②：段階パイプライン — 順序制御された多段変換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各計算ステップを「独立した純粋関数」として並べ、順番に適用します。ステップ間の依存は入出力のみ。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371600"/>
            <a:ext cx="54864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99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基本料金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6276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申請種別×申請者区分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532888" y="142646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¥220,000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1847088"/>
            <a:ext cx="0" cy="10972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956816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956816"/>
            <a:ext cx="54864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975104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19842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地域係数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2128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政令市 ×1.15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532888" y="201168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¥252,999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2432304"/>
            <a:ext cx="0" cy="10972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542032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542032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56032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25694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優先度係数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27980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 ×1.00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2532888" y="259689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¥252,999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3017520"/>
            <a:ext cx="0" cy="10972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127248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127248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14553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3154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複雑度係数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33832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超複雑 ×2.10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532888" y="318211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¥531,297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5800" y="3602736"/>
            <a:ext cx="0" cy="10972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712464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3712464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730752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3739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事業規模係数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39684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中規模法人 ×1.30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2532888" y="376732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¥690,686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85800" y="4187952"/>
            <a:ext cx="0" cy="10972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4297680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" y="4297680"/>
            <a:ext cx="54864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315968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" y="4325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季節係数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" y="45537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2月繁忙期 ×1.20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2532888" y="435254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¥828,823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90872" y="1371600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90872" y="1371600"/>
            <a:ext cx="54864" cy="4754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82312" y="1389888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93792" y="1399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追加料金加算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93792" y="16276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+法務+環境+補正 etc.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6995160" y="142646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¥1,085,823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148072" y="1847088"/>
            <a:ext cx="0" cy="10972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90872" y="1956816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90872" y="1956816"/>
            <a:ext cx="54864" cy="4754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82312" y="1975104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193792" y="19842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小計確定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193792" y="22128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係数合計+追加料金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6995160" y="201168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¥1,085,823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148072" y="2432304"/>
            <a:ext cx="0" cy="10972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90872" y="2542032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90872" y="2542032"/>
            <a:ext cx="54864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82312" y="256032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193792" y="25694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リピーター割引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193792" y="27980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 ▲0%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6995160" y="259689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¥1,085,823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148072" y="3017520"/>
            <a:ext cx="0" cy="10972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90872" y="3127248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90872" y="3127248"/>
            <a:ext cx="54864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82312" y="314553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193792" y="3154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パッケージ割引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193792" y="33832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2件同時 ▲8%</a:t>
            </a:r>
            <a:endParaRPr lang="en-US" sz="880" dirty="0"/>
          </a:p>
        </p:txBody>
      </p:sp>
      <p:sp>
        <p:nvSpPr>
          <p:cNvPr id="73" name="Text 71"/>
          <p:cNvSpPr/>
          <p:nvPr/>
        </p:nvSpPr>
        <p:spPr>
          <a:xfrm>
            <a:off x="6995160" y="318211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  999,000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148072" y="3602736"/>
            <a:ext cx="0" cy="10972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90872" y="3712464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690872" y="3712464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82312" y="3730752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193792" y="3739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最終料金確定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193792" y="39684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100円切上＋消費税</a:t>
            </a:r>
            <a:endParaRPr lang="en-US" sz="880" dirty="0"/>
          </a:p>
        </p:txBody>
      </p:sp>
      <p:sp>
        <p:nvSpPr>
          <p:cNvPr id="80" name="Text 78"/>
          <p:cNvSpPr/>
          <p:nvPr/>
        </p:nvSpPr>
        <p:spPr>
          <a:xfrm>
            <a:off x="6995160" y="376732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¥1,098,900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APP-003（産廃処理業許可）の実際の計算フロー ¥220,000 → ¥1,098,900（×4.99倍）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|  段階パイプラインの別例 — 物流料金の多段算出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「距離 × 重量 × 速度 × 季節 × 付帯サービス」など、全く別業務でも同じ設計パターンが使えます。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89888"/>
            <a:ext cx="420624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389888"/>
            <a:ext cx="54864" cy="3931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基本距離料金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5910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距離帯 × 便種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834640" y="142646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¥2,400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0" cy="731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856232"/>
            <a:ext cx="420624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856232"/>
            <a:ext cx="54864" cy="3931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8836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重量係数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" y="20574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〜10kg:×1.0, 〜30kg:×1.6, 30kg超:×2.5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34640" y="18928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¥3,840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249424"/>
            <a:ext cx="0" cy="731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322576"/>
            <a:ext cx="420624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322576"/>
            <a:ext cx="54864" cy="393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3500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速度オプション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" y="2523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翌日:×1.0, 当日:×2.2, 即時:×3.8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834640" y="23591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¥8,448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15768"/>
            <a:ext cx="0" cy="731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2788920"/>
            <a:ext cx="420624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788920"/>
            <a:ext cx="54864" cy="393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8163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季節係数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7472" y="29900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お中元期:×1.15, お歳暮期:×1.20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834640" y="282549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¥9,715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182112"/>
            <a:ext cx="0" cy="731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255264"/>
            <a:ext cx="420624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3255264"/>
            <a:ext cx="54864" cy="393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2826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 付帯サービス加算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7472" y="34564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+冷凍¥500+時間指定¥300+代引¥200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834640" y="32918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¥10,715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648456"/>
            <a:ext cx="0" cy="731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3721608"/>
            <a:ext cx="420624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3721608"/>
            <a:ext cx="54864" cy="3931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⑥ 会員割引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7472" y="39227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プレミアム会員 ▲10%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834640" y="3758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¥9,644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114800"/>
            <a:ext cx="0" cy="731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" y="4187952"/>
            <a:ext cx="420624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4187952"/>
            <a:ext cx="54864" cy="393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2153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⑦ 最終料金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47472" y="43891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10円切り上げ＋税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834640" y="422452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¥10,610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17720" y="1389888"/>
            <a:ext cx="4297680" cy="274320"/>
          </a:xfrm>
          <a:prstGeom prst="rect">
            <a:avLst/>
          </a:prstGeom>
          <a:solidFill>
            <a:srgbClr val="1D6A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1389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Pythonコード（抜粋）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17720" y="1682496"/>
            <a:ext cx="4297680" cy="3182112"/>
          </a:xfrm>
          <a:prstGeom prst="rect">
            <a:avLst/>
          </a:prstGeom>
          <a:solidFill>
            <a:srgbClr val="0A0F1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27448" y="1755648"/>
            <a:ext cx="411480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WEIGHT_MULT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"light":  1.0,  # 〜10kg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"medium": 1.6,  # 〜30kg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"heavy":  2.5,  # 30kg超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SPEED_MULT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"standard": 1.0, # 翌日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"express":  2.2, # 当日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"instant":  3.8, # 即時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SEASON_MULT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"normal":  1.00,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"ochugen": 1.15, # お中元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"oseibo":  1.20, # お歳暮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calc_logistics(req):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 = BASE_DIST[req.zone]         # S1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 *= WEIGHT_MULT[req.weight]    # S2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 *= SPEED_MULT[req.speed]      # S3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 *= SEASON_MULT[req.season]    # S4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 += sum(req.options.values())  # S5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 *= (1 - member_discount(req)) # S6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round_up(fee * 1.10)       # S7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28600" y="4818888"/>
            <a:ext cx="868680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81888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パイプラインの各ステップを差し替えるだけで運賃改定・新サービス追加・キャンペーン割引に即対応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|  エンジン設計 — 11段階の料金算出パイプライン全体像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261872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261872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0896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基本料金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0896" y="208483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申請種別×申請者区分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18パターンのテーブル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36192" y="187452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1188720"/>
            <a:ext cx="1261872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188720"/>
            <a:ext cx="1261872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82496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82496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地域係数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82496" y="208483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×0.85〜×1.30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4段階テーブル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07792" y="187452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1188720"/>
            <a:ext cx="1261872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1188720"/>
            <a:ext cx="12618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54096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54096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優先度係数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54096" y="208483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×1.00〜×2.20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3段階テーブル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79392" y="187452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1188720"/>
            <a:ext cx="1261872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1188720"/>
            <a:ext cx="12618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25696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25696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複雑度係数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25696" y="208483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×0.80〜×2.10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4段階テーブル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50992" y="187452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1188720"/>
            <a:ext cx="1261872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1188720"/>
            <a:ext cx="12618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97296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97296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事業規模係数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97296" y="208483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×0.75〜×1.65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法人のみ適用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022592" y="1874520"/>
            <a:ext cx="10972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1188720"/>
            <a:ext cx="1261872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1188720"/>
            <a:ext cx="1261872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8896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68896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季節係数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68896" y="208483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繁忙期×1.20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閑散期×0.95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" y="27157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係数の多段階乗算（順序が結果に影響）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2926080"/>
            <a:ext cx="1536192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2926080"/>
            <a:ext cx="1536192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10896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追加料金加算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10896" y="38221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法務/翻訳/環境etc.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各フラグ独立加算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810512" y="3611880"/>
            <a:ext cx="1371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47672" y="2926080"/>
            <a:ext cx="1536192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47672" y="2926080"/>
            <a:ext cx="1536192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84248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984248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書類超過料金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984248" y="38221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3段階の超過テーブル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枚数連動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83864" y="3611880"/>
            <a:ext cx="1371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21024" y="2926080"/>
            <a:ext cx="1536192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21024" y="2926080"/>
            <a:ext cx="1536192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65760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補正回数加算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657600" y="38221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段階課金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1回¥15k→+¥10k/回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157216" y="3611880"/>
            <a:ext cx="1371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94376" y="2926080"/>
            <a:ext cx="1536192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94376" y="2926080"/>
            <a:ext cx="1536192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30952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330952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リピーター割引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330952" y="38221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過去件数連動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▲5〜20%上限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830568" y="3611880"/>
            <a:ext cx="1371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67728" y="2926080"/>
            <a:ext cx="1536192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67728" y="2926080"/>
            <a:ext cx="153619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04304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004304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最終確定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004304" y="38221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パッケージ割引▲8〜20%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100円切上+消費税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274320" y="44531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加算・割引・最終確定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|  料金算出マトリックス — 10変数の全体像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4224528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78992"/>
            <a:ext cx="6400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115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申請種別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42032" y="1143000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1430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6種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4904" y="1389888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A建設工事 / B営業許可 / C補助金 / D輸出入 / E宅建 / F産廃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4224528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078992"/>
            <a:ext cx="6400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115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申請者区分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95160" y="1143000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1430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3区分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28032" y="1389888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 / 法人 / 行政機関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1792224"/>
            <a:ext cx="4224528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1792224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地域区分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42032" y="1856232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18562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4段階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4904" y="210312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特別区(×1.30) / 政令市(×1.15) / 都道府県(×1.00) / 過疎(×0.85)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792224"/>
            <a:ext cx="4224528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1792224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処理優先度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95160" y="1856232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18562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3段階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28032" y="210312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標準(×1.00) / 急ぎ(×1.50) / 最急(×2.20)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2505456"/>
            <a:ext cx="4224528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2505456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申請複雑度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542032" y="2569464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25694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4段階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4904" y="281635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簡易(×0.80) / 中程度(×1.00) / 複雑(×1.45) / 超複雑(×2.10)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505456"/>
            <a:ext cx="4224528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505456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事業規模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995160" y="2569464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25694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4段階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28032" y="281635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零細(×0.75) / 中小(×1.00) / 中規模(×1.30) / 大企業(×1.65)（法人のみ）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" y="3218688"/>
            <a:ext cx="4224528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" y="3218688"/>
            <a:ext cx="64008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" y="3255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季節・繁忙期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542032" y="3282696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32826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動的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4904" y="352958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2〜3月(×1.20) / 4月(×1.10) / 12月(×1.05) / 8月(×0.95) / 他(×1.00)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3218688"/>
            <a:ext cx="4224528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3218688"/>
            <a:ext cx="64008" cy="640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3255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追加料金フラグ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995160" y="3282696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95160" y="32826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5フラグ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28032" y="352958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法務確認+5万 / 翻訳¥3k/枚 / 複数県+4万 / 環境評価+10万 / 共同申請+3万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6032" y="3931920"/>
            <a:ext cx="4224528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6032" y="3931920"/>
            <a:ext cx="64008" cy="640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3968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補正対応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542032" y="3995928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42032" y="3995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74904" y="424281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1回目¥15,000 → 2回目以降+¥10,000/回（段階課金）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09160" y="3931920"/>
            <a:ext cx="4224528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9160" y="3931920"/>
            <a:ext cx="64008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28032" y="3968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割引制度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995160" y="3995928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95160" y="3995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控除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828032" y="424281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リピーター▲5〜20% × パッケージ▲8〜20%（複合適用・順序制御）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 |  5種の申請で実際に算出した料金比較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8686800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847088"/>
                <a:gridCol w="932688"/>
                <a:gridCol w="841248"/>
                <a:gridCol w="749808"/>
                <a:gridCol w="749808"/>
                <a:gridCol w="148132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申請ID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申請種別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区分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優先度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複雑度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最終料金（税込）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営業許可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個人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都道府県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簡易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D: 輸出入許可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法人(中小)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政令市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中程度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¥439,670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E4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建設工事許可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法人(大企業)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特別区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急ぎ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複雑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¥890,010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補助金申請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行政機関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特別区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中程度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¥27,060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E4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F: 産廃処理業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法人(中規模)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政令市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超複雑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¥1,098,900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3429000"/>
            <a:ext cx="86868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4290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最安値 ¥27,060 vs 最高値 ¥1,098,900 — 同じエンジンで40倍の料金差を正確に算出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" y="400507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APP-003: パッケージ割引(8%)・法務確認・環境影響評価・補正2回・書類75枚を含む最大複雑ケース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8600" y="4251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APP-004: APP-003との同時申請によるパッケージ割引(8%)・リピーター割引(10%)・翻訳料(28ページ)を含む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28600" y="449884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APP-005: 行政機関優遇（規模係数MICRO固定）+ 閑散期係数(×0.95)により最低水準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|  最大複雑ケース詳細（APP-003：産廃処理業 ¥220,000 → ¥1,098,900）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1115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基本料金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97480" y="1143000"/>
            <a:ext cx="4114800" cy="2651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1143000"/>
            <a:ext cx="894522" cy="2651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76288" y="1115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¥220,000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97480" y="1408176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産廃処理業 × 法人 = テーブル参照1回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" y="1600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×地域係数(1.15)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97480" y="1627632"/>
            <a:ext cx="4114800" cy="2651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627632"/>
            <a:ext cx="1028700" cy="2651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76288" y="16002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¥252,999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97480" y="1892808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政令指定都市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8600" y="20848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×複雑度係数(2.10)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97480" y="2112264"/>
            <a:ext cx="4114800" cy="2651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7480" y="2112264"/>
            <a:ext cx="2146852" cy="2651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20848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¥531,297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97480" y="2377440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超複雑（書類75枚・添付35点）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8600" y="25694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×規模係数(1.30)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97480" y="2596896"/>
            <a:ext cx="4114800" cy="2651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7480" y="2596896"/>
            <a:ext cx="2817743" cy="2651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256946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¥690,686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97480" y="2862072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中規模企業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28600" y="30540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×季節係数(1.20)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97480" y="3081528"/>
            <a:ext cx="4114800" cy="2651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7480" y="3081528"/>
            <a:ext cx="3354457" cy="2651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30540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¥828,823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97480" y="3346704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年度末（2月提出）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28600" y="35387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+追加料金加算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97480" y="3566160"/>
            <a:ext cx="4114800" cy="2651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7480" y="3566160"/>
            <a:ext cx="4025348" cy="2651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6288" y="35387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¥1,085,823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697480" y="3831336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+法務¥5万+環境¥10万+共同¥3万+補正2回¥2.5万+書類超過¥5.2万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28600" y="4023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−パッケージ割引8%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97480" y="4050792"/>
            <a:ext cx="4114800" cy="2651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97480" y="4050792"/>
            <a:ext cx="3622813" cy="2651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76288" y="40233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  999,000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697480" y="4315968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APP-004と同時申請（▲¥86,865）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4498848"/>
            <a:ext cx="8686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4988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最終料金（税込）: ¥1,098,900　（税別¥999,000 × 1.10）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 |  実装品質 — 型安全・DRY・監査証跡・テーブル駆動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0116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97280"/>
            <a:ext cx="20116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10896" y="166420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型安全・列挙型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" y="2157984"/>
            <a:ext cx="17373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212848"/>
            <a:ext cx="1828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+ dataclassで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無効値を型レベルで排除。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文字列ミスでは動かず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IDEの補完が効く。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20116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097280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78024" y="166420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テーブル駆動設計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2157984"/>
            <a:ext cx="17373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212848"/>
            <a:ext cx="1828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係数・料金は全て辞書で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外部定義。if-elseゼロ。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変更はテーブル編集のみ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でコード変更不要。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90288" y="1097280"/>
            <a:ext cx="20116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1097280"/>
            <a:ext cx="201168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45152" y="166420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単一責任関数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27448" y="2157984"/>
            <a:ext cx="17373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2212848"/>
            <a:ext cx="1828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document_surcharge()等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単機能の純粋関数に分割。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各Stepを独立テスト・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個別置き換え可能。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57416" y="1097280"/>
            <a:ext cx="20116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57416" y="1097280"/>
            <a:ext cx="201168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812280" y="166420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監査証跡・明細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94576" y="2157984"/>
            <a:ext cx="17373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2212848"/>
            <a:ext cx="1828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FeeBreakdown dataclassで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全ステップの中間値保持。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「なぜその金額か」を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完全に追跡・説明可能。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5544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 |  まとめと応用可能性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複雑な事務処理ロジックを体系的にプログラム化できます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72768"/>
            <a:ext cx="27432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2763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1.77億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89888" y="166420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通りの条件組み合わせ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1572768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1572768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62763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297680" y="166420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ルール（600行）で完全対応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9904" y="1572768"/>
            <a:ext cx="2743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9904" y="1572768"/>
            <a:ext cx="2743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62763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205472" y="166420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倍の料金差を正確に算出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2670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同じ設計パターンで即対応できる業務例: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2962656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保険料率算定（年齢×病歴×プラン×年数）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税務申告の複雑度別受付料金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建設積算・見積書自動生成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不動産仲介手数料多条件計算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962656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医療費自己負担額算出（高額療養費含む）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物流料金（距離×重量×速度×季節）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補助金採択確率スコアリング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各種許認可の審査期間予測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645152"/>
            <a:ext cx="2743200" cy="292608"/>
          </a:xfrm>
          <a:prstGeom prst="roundRect">
            <a:avLst>
              <a:gd name="adj" fmla="val 15625"/>
            </a:avLst>
          </a:prstGeom>
          <a:solidFill>
            <a:srgbClr val="1D6A4A"/>
          </a:solidFill>
          <a:ln w="12700">
            <a:solidFill>
              <a:srgbClr val="1D6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45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Python実装済み・即デモ可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4645152"/>
            <a:ext cx="274320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4645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他業務への横展開可能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4645152"/>
            <a:ext cx="2743200" cy="292608"/>
          </a:xfrm>
          <a:prstGeom prst="roundRect">
            <a:avLst>
              <a:gd name="adj" fmla="val 15625"/>
            </a:avLst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645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API/DB/ML連携に拡張可能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複雑な事務処理ロジックの自動化：料金算出マトリックスエンジン</dc:title>
  <dc:subject>PptxGenJS Presentation</dc:subject>
  <dc:creator>Hermes Agent</dc:creator>
  <cp:lastModifiedBy>Hermes Agent</cp:lastModifiedBy>
  <cp:revision>1</cp:revision>
  <dcterms:created xsi:type="dcterms:W3CDTF">2026-04-24T22:49:24Z</dcterms:created>
  <dcterms:modified xsi:type="dcterms:W3CDTF">2026-04-24T22:49:24Z</dcterms:modified>
</cp:coreProperties>
</file>